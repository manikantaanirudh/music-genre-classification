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 Bold" panose="020B0604020202020204" charset="0"/>
      <p:regular r:id="rId9"/>
    </p:embeddedFont>
    <p:embeddedFont>
      <p:font typeface="IBM Plex Sans Bold" panose="020B0604020202020204" charset="0"/>
      <p:regular r:id="rId10"/>
    </p:embeddedFon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Inter Medium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datasets/andradaolteanu/gtzan-dataset-music-genre-classification/dat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hyperlink" Target="https://paperswithcode.com/task/music-genre-classifica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mputer.org/csdl/journal/oj/2024/01/10605044/1YHLuS00H8A" TargetMode="External"/><Relationship Id="rId5" Type="http://schemas.openxmlformats.org/officeDocument/2006/relationships/hyperlink" Target="https://arxiv.org/html/2405.15096v1" TargetMode="External"/><Relationship Id="rId4" Type="http://schemas.openxmlformats.org/officeDocument/2006/relationships/hyperlink" Target="https://www.researchgate.net/publication/373144840_MUSIC_GENRE_CLASSIFICATION_USING_DEEP_LEARN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32743" y="1930222"/>
            <a:ext cx="6426557" cy="6426557"/>
            <a:chOff x="0" y="0"/>
            <a:chExt cx="8568743" cy="8568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8743" cy="8568743"/>
            </a:xfrm>
            <a:custGeom>
              <a:avLst/>
              <a:gdLst/>
              <a:ahLst/>
              <a:cxnLst/>
              <a:rect l="l" t="t" r="r" b="b"/>
              <a:pathLst>
                <a:path w="8568743" h="8568743">
                  <a:moveTo>
                    <a:pt x="0" y="0"/>
                  </a:moveTo>
                  <a:lnTo>
                    <a:pt x="8568743" y="0"/>
                  </a:lnTo>
                  <a:lnTo>
                    <a:pt x="8568743" y="8568743"/>
                  </a:lnTo>
                  <a:lnTo>
                    <a:pt x="0" y="8568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522498" y="522498"/>
              <a:ext cx="7523746" cy="7523746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5187" r="-25187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6" name="Freeform 6"/>
          <p:cNvSpPr/>
          <p:nvPr/>
        </p:nvSpPr>
        <p:spPr>
          <a:xfrm>
            <a:off x="8244325" y="2741184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527321">
            <a:off x="9257406" y="7314798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70" y="0"/>
                </a:lnTo>
                <a:lnTo>
                  <a:pt x="1006970" y="1556935"/>
                </a:lnTo>
                <a:lnTo>
                  <a:pt x="0" y="1556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216098" y="3438618"/>
            <a:ext cx="9161308" cy="4321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5"/>
              </a:lnSpc>
            </a:pPr>
            <a:r>
              <a:rPr lang="en-US" sz="826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MUSIC GENRE CLASSIFICATION</a:t>
            </a:r>
          </a:p>
          <a:p>
            <a:pPr algn="l">
              <a:lnSpc>
                <a:spcPts val="11565"/>
              </a:lnSpc>
            </a:pPr>
            <a:r>
              <a:rPr lang="en-US" sz="826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7047" y="9148283"/>
            <a:ext cx="1772253" cy="220035"/>
            <a:chOff x="0" y="0"/>
            <a:chExt cx="2363004" cy="2933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93380" cy="293380"/>
              <a:chOff x="0" y="0"/>
              <a:chExt cx="57952" cy="5795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034812" y="0"/>
              <a:ext cx="293380" cy="293380"/>
              <a:chOff x="0" y="0"/>
              <a:chExt cx="57952" cy="5795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069624" y="0"/>
              <a:ext cx="293380" cy="293380"/>
              <a:chOff x="0" y="0"/>
              <a:chExt cx="57952" cy="5795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 rot="-1074255">
            <a:off x="10104843" y="3004759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527321">
            <a:off x="13017874" y="7523561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70" y="0"/>
                </a:lnTo>
                <a:lnTo>
                  <a:pt x="1006970" y="1556934"/>
                </a:lnTo>
                <a:lnTo>
                  <a:pt x="0" y="1556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954487" y="1261110"/>
            <a:ext cx="8865357" cy="12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727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2362" y="2833622"/>
            <a:ext cx="16489813" cy="512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5"/>
              </a:lnSpc>
            </a:pPr>
            <a:r>
              <a:rPr lang="en-US" sz="36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Music Genre Classification is an AI-driven system that identifies a music track’s genre using </a:t>
            </a:r>
            <a:r>
              <a:rPr lang="en-US" sz="369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deep learning</a:t>
            </a:r>
            <a:r>
              <a:rPr lang="en-US" sz="36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Unlike traditional methods requiring manual feature extraction, this project leverages CNNs to analyze spectrograms—visual representations of sound. Using the </a:t>
            </a:r>
            <a:r>
              <a:rPr lang="en-US" sz="369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GTZAN </a:t>
            </a:r>
            <a:r>
              <a:rPr lang="en-US" sz="36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dataset and a Keras-trained </a:t>
            </a:r>
            <a:r>
              <a:rPr lang="en-US" sz="369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CNN model</a:t>
            </a:r>
            <a:r>
              <a:rPr lang="en-US" sz="36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it achieves high accuracy, enhancing music recommendation, retrieval, and organization for streaming platforms and audio indexing.</a:t>
            </a:r>
          </a:p>
          <a:p>
            <a:pPr algn="just">
              <a:lnSpc>
                <a:spcPts val="4233"/>
              </a:lnSpc>
            </a:pPr>
            <a:endParaRPr lang="en-US" sz="3697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17" name="Freeform 17"/>
          <p:cNvSpPr/>
          <p:nvPr/>
        </p:nvSpPr>
        <p:spPr>
          <a:xfrm rot="527321">
            <a:off x="1141731" y="7179974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69" y="0"/>
                </a:lnTo>
                <a:lnTo>
                  <a:pt x="1006969" y="1556934"/>
                </a:lnTo>
                <a:lnTo>
                  <a:pt x="0" y="1556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7047" y="9148283"/>
            <a:ext cx="1772253" cy="220035"/>
            <a:chOff x="0" y="0"/>
            <a:chExt cx="2363004" cy="2933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93380" cy="293380"/>
              <a:chOff x="0" y="0"/>
              <a:chExt cx="57952" cy="5795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034812" y="0"/>
              <a:ext cx="293380" cy="293380"/>
              <a:chOff x="0" y="0"/>
              <a:chExt cx="57952" cy="5795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069624" y="0"/>
              <a:ext cx="293380" cy="293380"/>
              <a:chOff x="0" y="0"/>
              <a:chExt cx="57952" cy="5795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029451" y="9148283"/>
            <a:ext cx="1772253" cy="220035"/>
            <a:chOff x="0" y="0"/>
            <a:chExt cx="2363004" cy="29338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93380" cy="293380"/>
              <a:chOff x="0" y="0"/>
              <a:chExt cx="57952" cy="5795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034812" y="0"/>
              <a:ext cx="293380" cy="293380"/>
              <a:chOff x="0" y="0"/>
              <a:chExt cx="57952" cy="5795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069624" y="0"/>
              <a:ext cx="293380" cy="293380"/>
              <a:chOff x="0" y="0"/>
              <a:chExt cx="57952" cy="5795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 rot="-678222">
            <a:off x="1212120" y="3283636"/>
            <a:ext cx="798802" cy="1235074"/>
          </a:xfrm>
          <a:custGeom>
            <a:avLst/>
            <a:gdLst/>
            <a:ahLst/>
            <a:cxnLst/>
            <a:rect l="l" t="t" r="r" b="b"/>
            <a:pathLst>
              <a:path w="798802" h="1235074">
                <a:moveTo>
                  <a:pt x="0" y="0"/>
                </a:moveTo>
                <a:lnTo>
                  <a:pt x="798802" y="0"/>
                </a:lnTo>
                <a:lnTo>
                  <a:pt x="798802" y="1235075"/>
                </a:lnTo>
                <a:lnTo>
                  <a:pt x="0" y="1235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0499" y="1107491"/>
            <a:ext cx="11530771" cy="219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3"/>
              </a:lnSpc>
            </a:pPr>
            <a:r>
              <a:rPr lang="en-US" sz="633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OF EXISTING 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0499" y="3294348"/>
            <a:ext cx="17328776" cy="784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187" lvl="1" indent="-345593" algn="l">
              <a:lnSpc>
                <a:spcPts val="4481"/>
              </a:lnSpc>
              <a:buFont typeface="Arial"/>
              <a:buChar char="•"/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Traditional Feature Extraction</a:t>
            </a:r>
          </a:p>
          <a:p>
            <a:pPr marL="1382373" lvl="2" indent="-460791" algn="l">
              <a:lnSpc>
                <a:spcPts val="4481"/>
              </a:lnSpc>
              <a:buFont typeface="Arial"/>
              <a:buChar char="⚬"/>
            </a:pPr>
            <a:r>
              <a:rPr lang="en-US" sz="320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 Feature Engineering (e.g., MFCC, spectral features) leads to inconsistencies and limited scalability.</a:t>
            </a:r>
          </a:p>
          <a:p>
            <a:pPr marL="691187" lvl="1" indent="-345593" algn="l">
              <a:lnSpc>
                <a:spcPts val="4481"/>
              </a:lnSpc>
              <a:buFont typeface="Arial"/>
              <a:buChar char="•"/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Classification Challenges    </a:t>
            </a:r>
          </a:p>
          <a:p>
            <a:pPr marL="1382373" lvl="2" indent="-460791" algn="l">
              <a:lnSpc>
                <a:spcPts val="4481"/>
              </a:lnSpc>
              <a:buFont typeface="Arial"/>
              <a:buChar char="⚬"/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20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 Classification is time-consuming and error-prone.</a:t>
            </a:r>
          </a:p>
          <a:p>
            <a:pPr marL="1382373" lvl="2" indent="-460791" algn="l">
              <a:lnSpc>
                <a:spcPts val="4481"/>
              </a:lnSpc>
              <a:buFont typeface="Arial"/>
              <a:buChar char="⚬"/>
            </a:pPr>
            <a:r>
              <a:rPr lang="en-US" sz="320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Limited Generalization to diverse or unseen genres.</a:t>
            </a:r>
          </a:p>
          <a:p>
            <a:pPr marL="691187" lvl="1" indent="-345593" algn="l">
              <a:lnSpc>
                <a:spcPts val="4481"/>
              </a:lnSpc>
              <a:buFont typeface="Arial"/>
              <a:buChar char="•"/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Performance Limitations   </a:t>
            </a:r>
          </a:p>
          <a:p>
            <a:pPr algn="l">
              <a:lnSpc>
                <a:spcPts val="4481"/>
              </a:lnSpc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</a:t>
            </a:r>
            <a:r>
              <a:rPr lang="en-US" sz="320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Struggles with overlapping genres and input variations (e.g., noise, quality).</a:t>
            </a:r>
          </a:p>
          <a:p>
            <a:pPr algn="l">
              <a:lnSpc>
                <a:spcPts val="4481"/>
              </a:lnSpc>
            </a:pPr>
            <a:r>
              <a:rPr lang="en-US" sz="320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Poor accuracy with complex or mixed genre patterns.</a:t>
            </a:r>
          </a:p>
          <a:p>
            <a:pPr algn="l">
              <a:lnSpc>
                <a:spcPts val="4481"/>
              </a:lnSpc>
            </a:pPr>
            <a:endParaRPr lang="en-US" sz="320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481"/>
              </a:lnSpc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             </a:t>
            </a:r>
          </a:p>
          <a:p>
            <a:pPr algn="l">
              <a:lnSpc>
                <a:spcPts val="4481"/>
              </a:lnSpc>
            </a:pPr>
            <a:endParaRPr lang="en-US" sz="3201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4481"/>
              </a:lnSpc>
            </a:pPr>
            <a:r>
              <a:rPr lang="en-US" sz="3201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  <a:p>
            <a:pPr marL="691187" lvl="1" indent="-345593" algn="l">
              <a:lnSpc>
                <a:spcPts val="4481"/>
              </a:lnSpc>
              <a:buFont typeface="Arial"/>
              <a:buChar char="•"/>
            </a:pPr>
            <a:endParaRPr lang="en-US" sz="3201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6" name="Freeform 26"/>
          <p:cNvSpPr/>
          <p:nvPr/>
        </p:nvSpPr>
        <p:spPr>
          <a:xfrm rot="527321">
            <a:off x="13017874" y="7523561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70" y="0"/>
                </a:lnTo>
                <a:lnTo>
                  <a:pt x="1006970" y="1556934"/>
                </a:lnTo>
                <a:lnTo>
                  <a:pt x="0" y="1556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8243950" y="2753842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1297633" flipH="1">
            <a:off x="2972745" y="8429171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900050" y="0"/>
                </a:moveTo>
                <a:lnTo>
                  <a:pt x="0" y="0"/>
                </a:lnTo>
                <a:lnTo>
                  <a:pt x="0" y="1100061"/>
                </a:lnTo>
                <a:lnTo>
                  <a:pt x="900050" y="1100061"/>
                </a:lnTo>
                <a:lnTo>
                  <a:pt x="9000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7047" y="9148283"/>
            <a:ext cx="1772253" cy="220035"/>
            <a:chOff x="0" y="0"/>
            <a:chExt cx="2363004" cy="2933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93380" cy="293380"/>
              <a:chOff x="0" y="0"/>
              <a:chExt cx="57952" cy="5795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034812" y="0"/>
              <a:ext cx="293380" cy="293380"/>
              <a:chOff x="0" y="0"/>
              <a:chExt cx="57952" cy="5795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069624" y="0"/>
              <a:ext cx="293380" cy="293380"/>
              <a:chOff x="0" y="0"/>
              <a:chExt cx="57952" cy="5795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952" cy="57952"/>
              </a:xfrm>
              <a:custGeom>
                <a:avLst/>
                <a:gdLst/>
                <a:ahLst/>
                <a:cxnLst/>
                <a:rect l="l" t="t" r="r" b="b"/>
                <a:pathLst>
                  <a:path w="57952" h="57952">
                    <a:moveTo>
                      <a:pt x="0" y="0"/>
                    </a:moveTo>
                    <a:lnTo>
                      <a:pt x="57952" y="0"/>
                    </a:lnTo>
                    <a:lnTo>
                      <a:pt x="57952" y="57952"/>
                    </a:lnTo>
                    <a:lnTo>
                      <a:pt x="0" y="579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19050"/>
                <a:ext cx="57952" cy="389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10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6171615" y="2580422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2"/>
                </a:lnTo>
                <a:lnTo>
                  <a:pt x="0" y="110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527321">
            <a:off x="9563521" y="7314798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70" y="0"/>
                </a:lnTo>
                <a:lnTo>
                  <a:pt x="1006970" y="1556935"/>
                </a:lnTo>
                <a:lnTo>
                  <a:pt x="0" y="155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028700" y="1320147"/>
            <a:ext cx="13175339" cy="186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00"/>
              </a:lnSpc>
            </a:pPr>
            <a:r>
              <a:rPr lang="en-US" sz="6636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SYSTEM(METHODOLOGY)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118932"/>
            <a:ext cx="16541806" cy="655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1"/>
              </a:lnSpc>
            </a:pPr>
            <a:endParaRPr/>
          </a:p>
          <a:p>
            <a:pPr marL="618563" lvl="1" indent="-309282" algn="just">
              <a:lnSpc>
                <a:spcPts val="4011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Overview: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Deep Learning Model: CNN (Convolutional Neural Networks) trained on spectrograms.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 Extraction: Converts audio signals into spectrograms for image-based classification.</a:t>
            </a:r>
          </a:p>
          <a:p>
            <a:pPr marL="618563" lvl="1" indent="-309282" algn="just">
              <a:lnSpc>
                <a:spcPts val="4011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Workflow: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Preprocessing: Convert audio files into spectrograms.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Training: Train a CNN model on labeled music data.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Prediction: Classify new music samples into predefined genres.</a:t>
            </a:r>
          </a:p>
          <a:p>
            <a:pPr marL="618563" lvl="1" indent="-309282" algn="just">
              <a:lnSpc>
                <a:spcPts val="4011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Advantages: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Fully automated feature extraction.</a:t>
            </a:r>
          </a:p>
          <a:p>
            <a:pPr marL="1237126" lvl="2" indent="-412375" algn="just">
              <a:lnSpc>
                <a:spcPts val="4011"/>
              </a:lnSpc>
              <a:buFont typeface="Arial"/>
              <a:buChar char="⚬"/>
            </a:pPr>
            <a:r>
              <a:rPr lang="en-US" sz="286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generalization with deep learning.</a:t>
            </a:r>
          </a:p>
          <a:p>
            <a:pPr algn="just">
              <a:lnSpc>
                <a:spcPts val="4011"/>
              </a:lnSpc>
            </a:pPr>
            <a:endParaRPr lang="en-US" sz="286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525657" y="105411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966658" y="709920"/>
            <a:ext cx="4354684" cy="637560"/>
            <a:chOff x="0" y="0"/>
            <a:chExt cx="1146913" cy="1679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6913" cy="167917"/>
            </a:xfrm>
            <a:custGeom>
              <a:avLst/>
              <a:gdLst/>
              <a:ahLst/>
              <a:cxnLst/>
              <a:rect l="l" t="t" r="r" b="b"/>
              <a:pathLst>
                <a:path w="1146913" h="167917">
                  <a:moveTo>
                    <a:pt x="83958" y="0"/>
                  </a:moveTo>
                  <a:lnTo>
                    <a:pt x="1062954" y="0"/>
                  </a:lnTo>
                  <a:cubicBezTo>
                    <a:pt x="1109323" y="0"/>
                    <a:pt x="1146913" y="37589"/>
                    <a:pt x="1146913" y="83958"/>
                  </a:cubicBezTo>
                  <a:lnTo>
                    <a:pt x="1146913" y="83958"/>
                  </a:lnTo>
                  <a:cubicBezTo>
                    <a:pt x="1146913" y="130327"/>
                    <a:pt x="1109323" y="167917"/>
                    <a:pt x="1062954" y="167917"/>
                  </a:cubicBezTo>
                  <a:lnTo>
                    <a:pt x="83958" y="167917"/>
                  </a:lnTo>
                  <a:cubicBezTo>
                    <a:pt x="37589" y="167917"/>
                    <a:pt x="0" y="130327"/>
                    <a:pt x="0" y="83958"/>
                  </a:cubicBezTo>
                  <a:lnTo>
                    <a:pt x="0" y="83958"/>
                  </a:lnTo>
                  <a:cubicBezTo>
                    <a:pt x="0" y="37589"/>
                    <a:pt x="37589" y="0"/>
                    <a:pt x="839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46913" cy="206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5087" y="1346290"/>
            <a:ext cx="10695504" cy="124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DETASET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5087" y="3016981"/>
            <a:ext cx="17065466" cy="561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180" lvl="1" indent="-430090" algn="l">
              <a:lnSpc>
                <a:spcPts val="5577"/>
              </a:lnSpc>
              <a:buFont typeface="Arial"/>
              <a:buChar char="•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Dataset Used: GTZAN Music Genre Classification Dataset</a:t>
            </a:r>
          </a:p>
          <a:p>
            <a:pPr marL="860180" lvl="1" indent="-430090" algn="l">
              <a:lnSpc>
                <a:spcPts val="5577"/>
              </a:lnSpc>
              <a:buFont typeface="Arial"/>
              <a:buChar char="•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3984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2" tooltip="https://www.kaggle.com/datasets/andradaolteanu/gtzan-dataset-music-genre-classification/data"/>
              </a:rPr>
              <a:t>Kaggle Dataset</a:t>
            </a:r>
          </a:p>
          <a:p>
            <a:pPr marL="860180" lvl="1" indent="-430090" algn="l">
              <a:lnSpc>
                <a:spcPts val="5577"/>
              </a:lnSpc>
              <a:buFont typeface="Arial"/>
              <a:buChar char="•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Dataset Details:</a:t>
            </a:r>
          </a:p>
          <a:p>
            <a:pPr marL="1720359" lvl="2" indent="-573453" algn="l">
              <a:lnSpc>
                <a:spcPts val="5577"/>
              </a:lnSpc>
              <a:buFont typeface="Arial"/>
              <a:buChar char="⚬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Genres: 10 categories (e.g., Classical, Jazz, Rock, Hip-Hop, etc.)</a:t>
            </a:r>
          </a:p>
          <a:p>
            <a:pPr marL="1720359" lvl="2" indent="-573453" algn="l">
              <a:lnSpc>
                <a:spcPts val="5577"/>
              </a:lnSpc>
              <a:buFont typeface="Arial"/>
              <a:buChar char="⚬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Samples: 1,000 (100 per genre)</a:t>
            </a:r>
          </a:p>
          <a:p>
            <a:pPr marL="1720359" lvl="2" indent="-573453" algn="l">
              <a:lnSpc>
                <a:spcPts val="5577"/>
              </a:lnSpc>
              <a:buFont typeface="Arial"/>
              <a:buChar char="⚬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Audio Format: 30-second clips</a:t>
            </a:r>
          </a:p>
          <a:p>
            <a:pPr marL="1720359" lvl="2" indent="-573453" algn="l">
              <a:lnSpc>
                <a:spcPts val="5577"/>
              </a:lnSpc>
              <a:buFont typeface="Arial"/>
              <a:buChar char="⚬"/>
            </a:pPr>
            <a:r>
              <a:rPr lang="en-US" sz="39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Preprocessing: Spectrogram conversion, normalization</a:t>
            </a:r>
          </a:p>
          <a:p>
            <a:pPr algn="l">
              <a:lnSpc>
                <a:spcPts val="5577"/>
              </a:lnSpc>
            </a:pPr>
            <a:endParaRPr lang="en-US" sz="3984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Freeform 8"/>
          <p:cNvSpPr/>
          <p:nvPr/>
        </p:nvSpPr>
        <p:spPr>
          <a:xfrm rot="-1074255">
            <a:off x="13038162" y="3931726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527321">
            <a:off x="1710957" y="7228831"/>
            <a:ext cx="1006970" cy="1556935"/>
          </a:xfrm>
          <a:custGeom>
            <a:avLst/>
            <a:gdLst/>
            <a:ahLst/>
            <a:cxnLst/>
            <a:rect l="l" t="t" r="r" b="b"/>
            <a:pathLst>
              <a:path w="1006970" h="1556935">
                <a:moveTo>
                  <a:pt x="0" y="0"/>
                </a:moveTo>
                <a:lnTo>
                  <a:pt x="1006970" y="0"/>
                </a:lnTo>
                <a:lnTo>
                  <a:pt x="1006970" y="1556934"/>
                </a:lnTo>
                <a:lnTo>
                  <a:pt x="0" y="1556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74255">
            <a:off x="13040130" y="1459193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1297633" flipH="1">
            <a:off x="9519148" y="8069001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900050" y="0"/>
                </a:moveTo>
                <a:lnTo>
                  <a:pt x="0" y="0"/>
                </a:lnTo>
                <a:lnTo>
                  <a:pt x="0" y="1100061"/>
                </a:lnTo>
                <a:lnTo>
                  <a:pt x="900050" y="1100061"/>
                </a:lnTo>
                <a:lnTo>
                  <a:pt x="9000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61598"/>
            <a:ext cx="16231351" cy="8192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Research Papers &amp; Resources</a:t>
            </a:r>
          </a:p>
          <a:p>
            <a:pPr marL="480341" lvl="1" indent="-240170" algn="l">
              <a:lnSpc>
                <a:spcPts val="3114"/>
              </a:lnSpc>
              <a:buAutoNum type="arabicPeriod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Music Genre Classification Using Deep Learning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ResearchGate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lang="en-US" sz="2224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4" tooltip="https://www.researchgate.net/publication/373144840_MUSIC_GENRE_CLASSIFICATION_USING_DEEP_LEARNING"/>
              </a:rPr>
              <a:t>Music Genre Classification Using Deep Learning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Summary: A study exploring deep learning techniques, specifically CNNs, for music genre classification.</a:t>
            </a:r>
          </a:p>
          <a:p>
            <a:pPr marL="480341" lvl="1" indent="-240170" algn="l">
              <a:lnSpc>
                <a:spcPts val="3114"/>
              </a:lnSpc>
              <a:buAutoNum type="arabicPeriod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Recent Advances in Music Genre Classification: A Deep Learning Perspective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arXiv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lang="en-US" sz="2224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5" tooltip="https://arxiv.org/html/2405.15096v1"/>
              </a:rPr>
              <a:t>arXiv:2405.15096v1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Summary: This paper presents state-of-the-art methods in genre classification using deep learning, including convolutional and recurrent networks.</a:t>
            </a:r>
          </a:p>
          <a:p>
            <a:pPr marL="480341" lvl="1" indent="-240170" algn="l">
              <a:lnSpc>
                <a:spcPts val="3114"/>
              </a:lnSpc>
              <a:buAutoNum type="arabicPeriod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Music Genre Classification Using Machine Learning Techniques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IEEE Xplore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lang="en-US" sz="2224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6" tooltip="https://www.computer.org/csdl/journal/oj/2024/01/10605044/1YHLuS00H8A"/>
              </a:rPr>
              <a:t>IEEE Xplore: Music Genre Classification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Summary: A comprehensive study of various machine learning models applied to music genre classification, emphasizing deep neural networks.</a:t>
            </a:r>
          </a:p>
          <a:p>
            <a:pPr marL="480341" lvl="1" indent="-240170" algn="l">
              <a:lnSpc>
                <a:spcPts val="3114"/>
              </a:lnSpc>
              <a:buAutoNum type="arabicPeriod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Papers with Code - Music Genre Classification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Papers With Code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Link: </a:t>
            </a:r>
            <a:r>
              <a:rPr lang="en-US" sz="2224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7" tooltip="https://paperswithcode.com/task/music-genre-classification"/>
              </a:rPr>
              <a:t>Papers With Code: Music Genre Classification</a:t>
            </a:r>
          </a:p>
          <a:p>
            <a:pPr marL="960682" lvl="2" indent="-320227" algn="l">
              <a:lnSpc>
                <a:spcPts val="3114"/>
              </a:lnSpc>
              <a:buFont typeface="Arial"/>
              <a:buChar char="⚬"/>
            </a:pPr>
            <a:r>
              <a:rPr lang="en-US" sz="222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Summary: A platform that hosts research papers along with their code implementations, providing benchmarks for genre classification tasks.</a:t>
            </a:r>
          </a:p>
          <a:p>
            <a:pPr algn="l">
              <a:lnSpc>
                <a:spcPts val="3114"/>
              </a:lnSpc>
            </a:pPr>
            <a:endParaRPr lang="en-US" sz="2224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0465" y="616376"/>
            <a:ext cx="6210300" cy="1292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86009"/>
            <a:ext cx="7181950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 for Tuning In!</a:t>
            </a:r>
          </a:p>
        </p:txBody>
      </p:sp>
      <p:sp>
        <p:nvSpPr>
          <p:cNvPr id="3" name="Freeform 3"/>
          <p:cNvSpPr/>
          <p:nvPr/>
        </p:nvSpPr>
        <p:spPr>
          <a:xfrm rot="-1074255">
            <a:off x="7518672" y="2375141"/>
            <a:ext cx="900050" cy="1100061"/>
          </a:xfrm>
          <a:custGeom>
            <a:avLst/>
            <a:gdLst/>
            <a:ahLst/>
            <a:cxnLst/>
            <a:rect l="l" t="t" r="r" b="b"/>
            <a:pathLst>
              <a:path w="900050" h="1100061">
                <a:moveTo>
                  <a:pt x="0" y="0"/>
                </a:moveTo>
                <a:lnTo>
                  <a:pt x="900050" y="0"/>
                </a:lnTo>
                <a:lnTo>
                  <a:pt x="900050" y="1100061"/>
                </a:lnTo>
                <a:lnTo>
                  <a:pt x="0" y="1100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527321">
            <a:off x="7225083" y="7450027"/>
            <a:ext cx="788662" cy="1219396"/>
          </a:xfrm>
          <a:custGeom>
            <a:avLst/>
            <a:gdLst/>
            <a:ahLst/>
            <a:cxnLst/>
            <a:rect l="l" t="t" r="r" b="b"/>
            <a:pathLst>
              <a:path w="788662" h="1219396">
                <a:moveTo>
                  <a:pt x="0" y="0"/>
                </a:moveTo>
                <a:lnTo>
                  <a:pt x="788662" y="0"/>
                </a:lnTo>
                <a:lnTo>
                  <a:pt x="788662" y="1219396"/>
                </a:lnTo>
                <a:lnTo>
                  <a:pt x="0" y="121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3714043" y="891540"/>
            <a:ext cx="3546007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  <a:spcBef>
                <a:spcPct val="0"/>
              </a:spcBef>
            </a:pPr>
            <a:r>
              <a:rPr lang="en-US" sz="2100" b="1" spc="233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1733740"/>
            <a:ext cx="4958071" cy="139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14"/>
              </a:lnSpc>
            </a:pPr>
            <a:r>
              <a:rPr lang="en-US" sz="815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66023" y="4068333"/>
            <a:ext cx="9161906" cy="264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5"/>
              </a:lnSpc>
            </a:pPr>
            <a:r>
              <a:rPr lang="en-US" sz="50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J.AKASH-22BCE20488</a:t>
            </a:r>
          </a:p>
          <a:p>
            <a:pPr algn="ctr">
              <a:lnSpc>
                <a:spcPts val="7045"/>
              </a:lnSpc>
            </a:pPr>
            <a:r>
              <a:rPr lang="en-US" sz="50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J.MANEESHWAR-22BCE7453</a:t>
            </a:r>
          </a:p>
          <a:p>
            <a:pPr algn="ctr">
              <a:lnSpc>
                <a:spcPts val="7045"/>
              </a:lnSpc>
            </a:pPr>
            <a:r>
              <a:rPr lang="en-US" sz="50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G.ANIRUDH-22BCE7490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Custom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Canva Sans Bold</vt:lpstr>
      <vt:lpstr>Inter Bold</vt:lpstr>
      <vt:lpstr>Inter</vt:lpstr>
      <vt:lpstr>Inter Medium</vt:lpstr>
      <vt:lpstr>Arial</vt:lpstr>
      <vt:lpstr>Calibri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Genre Classification System</dc:title>
  <dc:creator>Garlapati Anirudh</dc:creator>
  <cp:lastModifiedBy>Garlapati Anirudh</cp:lastModifiedBy>
  <cp:revision>3</cp:revision>
  <dcterms:created xsi:type="dcterms:W3CDTF">2006-08-16T00:00:00Z</dcterms:created>
  <dcterms:modified xsi:type="dcterms:W3CDTF">2025-02-18T10:45:28Z</dcterms:modified>
  <dc:identifier>DAGfcTJpDUY</dc:identifier>
</cp:coreProperties>
</file>